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1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5143500" cx="9144000"/>
  <p:notesSz cx="6858000" cy="9144000"/>
  <p:embeddedFontLst>
    <p:embeddedFont>
      <p:font typeface="Poppins"/>
      <p:regular r:id="rId16"/>
      <p:bold r:id="rId17"/>
      <p:italic r:id="rId18"/>
      <p:boldItalic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Poppins-bold.fntdata"/><Relationship Id="rId16" Type="http://schemas.openxmlformats.org/officeDocument/2006/relationships/font" Target="fonts/Poppins-regular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Poppins-boldItalic.fntdata"/><Relationship Id="rId6" Type="http://schemas.openxmlformats.org/officeDocument/2006/relationships/slide" Target="slides/slide1.xml"/><Relationship Id="rId18" Type="http://schemas.openxmlformats.org/officeDocument/2006/relationships/font" Target="fonts/Poppins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2e6104eae1a_0_1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2e6104eae1a_0_1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2e6104eae1a_0_2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2e6104eae1a_0_2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2e63eb7c018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2e63eb7c018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2e6104eae1a_0_3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2e6104eae1a_0_3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2e6104eae1a_0_3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2e6104eae1a_0_3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2e63eb7c018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2e63eb7c018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2e6104eae1a_0_3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2e6104eae1a_0_3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2e6104eae1a_0_3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2e6104eae1a_0_3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2e63eb7c018_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2e63eb7c018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2e6104eae1a_0_3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2e6104eae1a_0_3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full blue">
  <p:cSld name="TITLE_1_1_1">
    <p:bg>
      <p:bgPr>
        <a:solidFill>
          <a:srgbClr val="3B68FC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  <p:pic>
        <p:nvPicPr>
          <p:cNvPr id="52" name="Google Shape;52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884253" y="0"/>
            <a:ext cx="7259745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53" name="Google Shape;53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4800" y="304791"/>
            <a:ext cx="1800003" cy="701633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13"/>
          <p:cNvSpPr txBox="1"/>
          <p:nvPr>
            <p:ph type="ctrTitle"/>
          </p:nvPr>
        </p:nvSpPr>
        <p:spPr>
          <a:xfrm>
            <a:off x="215150" y="1209048"/>
            <a:ext cx="6727500" cy="1451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CC00"/>
              </a:buClr>
              <a:buSzPts val="3500"/>
              <a:buNone/>
              <a:defRPr sz="3500">
                <a:solidFill>
                  <a:srgbClr val="FFCC00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FFCC00"/>
              </a:buClr>
              <a:buSzPts val="4000"/>
              <a:buNone/>
              <a:defRPr sz="4000">
                <a:solidFill>
                  <a:srgbClr val="FFCC00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FFCC00"/>
              </a:buClr>
              <a:buSzPts val="4000"/>
              <a:buNone/>
              <a:defRPr sz="4000">
                <a:solidFill>
                  <a:srgbClr val="FFCC00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FFCC00"/>
              </a:buClr>
              <a:buSzPts val="4000"/>
              <a:buNone/>
              <a:defRPr sz="4000">
                <a:solidFill>
                  <a:srgbClr val="FFCC00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FFCC00"/>
              </a:buClr>
              <a:buSzPts val="4000"/>
              <a:buNone/>
              <a:defRPr sz="4000">
                <a:solidFill>
                  <a:srgbClr val="FFCC00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FFCC00"/>
              </a:buClr>
              <a:buSzPts val="4000"/>
              <a:buNone/>
              <a:defRPr sz="4000">
                <a:solidFill>
                  <a:srgbClr val="FFCC00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FFCC00"/>
              </a:buClr>
              <a:buSzPts val="4000"/>
              <a:buNone/>
              <a:defRPr sz="4000">
                <a:solidFill>
                  <a:srgbClr val="FFCC00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FFCC00"/>
              </a:buClr>
              <a:buSzPts val="4000"/>
              <a:buNone/>
              <a:defRPr sz="4000">
                <a:solidFill>
                  <a:srgbClr val="FFCC00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FFCC00"/>
              </a:buClr>
              <a:buSzPts val="4000"/>
              <a:buNone/>
              <a:defRPr sz="4000">
                <a:solidFill>
                  <a:srgbClr val="FFCC00"/>
                </a:solidFill>
              </a:defRPr>
            </a:lvl9pPr>
          </a:lstStyle>
          <a:p/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215138" y="2660119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C00"/>
              </a:buClr>
              <a:buSzPts val="2100"/>
              <a:buNone/>
              <a:defRPr sz="2100">
                <a:solidFill>
                  <a:srgbClr val="FFCC00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C00"/>
              </a:buClr>
              <a:buSzPts val="2100"/>
              <a:buNone/>
              <a:defRPr sz="2100">
                <a:solidFill>
                  <a:srgbClr val="FFCC00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C00"/>
              </a:buClr>
              <a:buSzPts val="2100"/>
              <a:buNone/>
              <a:defRPr sz="2100">
                <a:solidFill>
                  <a:srgbClr val="FFCC00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C00"/>
              </a:buClr>
              <a:buSzPts val="2100"/>
              <a:buNone/>
              <a:defRPr sz="2100">
                <a:solidFill>
                  <a:srgbClr val="FFCC00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C00"/>
              </a:buClr>
              <a:buSzPts val="2100"/>
              <a:buNone/>
              <a:defRPr sz="2100">
                <a:solidFill>
                  <a:srgbClr val="FFCC00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C00"/>
              </a:buClr>
              <a:buSzPts val="2100"/>
              <a:buNone/>
              <a:defRPr sz="2100">
                <a:solidFill>
                  <a:srgbClr val="FFCC00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C00"/>
              </a:buClr>
              <a:buSzPts val="2100"/>
              <a:buNone/>
              <a:defRPr sz="2100">
                <a:solidFill>
                  <a:srgbClr val="FFCC00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C00"/>
              </a:buClr>
              <a:buSzPts val="2100"/>
              <a:buNone/>
              <a:defRPr sz="2100">
                <a:solidFill>
                  <a:srgbClr val="FFCC00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 - White 2 - lines">
  <p:cSld name="TITLE_AND_BODY_1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" name="Google Shape;57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623528" y="0"/>
            <a:ext cx="7259745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9" name="Google Shape;59;p14"/>
          <p:cNvSpPr txBox="1"/>
          <p:nvPr>
            <p:ph idx="1" type="body"/>
          </p:nvPr>
        </p:nvSpPr>
        <p:spPr>
          <a:xfrm>
            <a:off x="311700" y="1152475"/>
            <a:ext cx="7132800" cy="216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Clr>
                <a:srgbClr val="3B68FC"/>
              </a:buClr>
              <a:buSzPts val="1800"/>
              <a:buChar char="●"/>
              <a:defRPr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Clr>
                <a:srgbClr val="3B68FC"/>
              </a:buClr>
              <a:buSzPts val="14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Clr>
                <a:srgbClr val="3B68FC"/>
              </a:buClr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Clr>
                <a:srgbClr val="3B68FC"/>
              </a:buClr>
              <a:buSzPts val="1400"/>
              <a:buChar char="●"/>
              <a:defRPr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0" name="Google Shape;60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  <p:pic>
        <p:nvPicPr>
          <p:cNvPr id="61" name="Google Shape;61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631600" y="152400"/>
            <a:ext cx="360002" cy="3614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2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gallery.oto-jest-wawrzyn.pl/" TargetMode="External"/><Relationship Id="rId4" Type="http://schemas.openxmlformats.org/officeDocument/2006/relationships/hyperlink" Target="https://gallery.oto-jest-wawrzyn.pl/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Relationship Id="rId4" Type="http://schemas.openxmlformats.org/officeDocument/2006/relationships/image" Target="../media/image8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ctrTitle"/>
          </p:nvPr>
        </p:nvSpPr>
        <p:spPr>
          <a:xfrm>
            <a:off x="215150" y="1209048"/>
            <a:ext cx="6727500" cy="1451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Content Security Policy</a:t>
            </a:r>
            <a:endParaRPr/>
          </a:p>
        </p:txBody>
      </p:sp>
      <p:sp>
        <p:nvSpPr>
          <p:cNvPr id="67" name="Google Shape;67;p15"/>
          <p:cNvSpPr txBox="1"/>
          <p:nvPr>
            <p:ph idx="1" type="subTitle"/>
          </p:nvPr>
        </p:nvSpPr>
        <p:spPr>
          <a:xfrm>
            <a:off x="215138" y="2660119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l">
                <a:latin typeface="Poppins"/>
                <a:ea typeface="Poppins"/>
                <a:cs typeface="Poppins"/>
                <a:sym typeface="Poppins"/>
              </a:rPr>
              <a:t>Omni knowledge share meeting 19.06.2024</a:t>
            </a:r>
            <a:endParaRPr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>
                <a:latin typeface="Poppins"/>
                <a:ea typeface="Poppins"/>
                <a:cs typeface="Poppins"/>
                <a:sym typeface="Poppins"/>
              </a:rPr>
              <a:t>Let’s start with a demo!</a:t>
            </a: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311700" y="1152475"/>
            <a:ext cx="7132800" cy="216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Poppins"/>
              <a:buChar char="●"/>
            </a:pPr>
            <a:r>
              <a:rPr lang="pl" u="sng">
                <a:solidFill>
                  <a:schemeClr val="hlink"/>
                </a:solidFill>
                <a:latin typeface="Poppins"/>
                <a:ea typeface="Poppins"/>
                <a:cs typeface="Poppins"/>
                <a:sym typeface="Poppins"/>
                <a:hlinkClick r:id="rId3"/>
              </a:rPr>
              <a:t>https://gallery.oto-jest-wawrzyn.pl/</a:t>
            </a:r>
            <a:r>
              <a:rPr lang="pl" u="sng">
                <a:solidFill>
                  <a:schemeClr val="hlink"/>
                </a:solidFill>
                <a:latin typeface="Poppins"/>
                <a:ea typeface="Poppins"/>
                <a:cs typeface="Poppins"/>
                <a:sym typeface="Poppins"/>
                <a:hlinkClick r:id="rId4"/>
              </a:rPr>
              <a:t> </a:t>
            </a: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>
                <a:latin typeface="Poppins"/>
                <a:ea typeface="Poppins"/>
                <a:cs typeface="Poppins"/>
                <a:sym typeface="Poppins"/>
              </a:rPr>
              <a:t>What’s this CSP?</a:t>
            </a: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9" name="Google Shape;79;p17"/>
          <p:cNvSpPr txBox="1"/>
          <p:nvPr>
            <p:ph idx="1" type="body"/>
          </p:nvPr>
        </p:nvSpPr>
        <p:spPr>
          <a:xfrm>
            <a:off x="311700" y="1152475"/>
            <a:ext cx="7132800" cy="216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pl">
                <a:latin typeface="Poppins"/>
                <a:ea typeface="Poppins"/>
                <a:cs typeface="Poppins"/>
                <a:sym typeface="Poppins"/>
              </a:rPr>
              <a:t>Content Security Policy</a:t>
            </a:r>
            <a:r>
              <a:rPr lang="pl">
                <a:latin typeface="Poppins"/>
                <a:ea typeface="Poppins"/>
                <a:cs typeface="Poppins"/>
                <a:sym typeface="Poppins"/>
              </a:rPr>
              <a:t> is a security mechanism that allows to filter the way a website requests resources, e.g.:</a:t>
            </a:r>
            <a:endParaRPr>
              <a:latin typeface="Poppins"/>
              <a:ea typeface="Poppins"/>
              <a:cs typeface="Poppins"/>
              <a:sym typeface="Poppins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Font typeface="Poppins"/>
              <a:buChar char="○"/>
            </a:pPr>
            <a:r>
              <a:rPr lang="pl">
                <a:latin typeface="Poppins"/>
                <a:ea typeface="Poppins"/>
                <a:cs typeface="Poppins"/>
                <a:sym typeface="Poppins"/>
              </a:rPr>
              <a:t>Block all WebSocket traffic.</a:t>
            </a:r>
            <a:endParaRPr>
              <a:latin typeface="Poppins"/>
              <a:ea typeface="Poppins"/>
              <a:cs typeface="Poppins"/>
              <a:sym typeface="Poppins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Font typeface="Poppins"/>
              <a:buChar char="○"/>
            </a:pPr>
            <a:r>
              <a:rPr lang="pl">
                <a:latin typeface="Poppins"/>
                <a:ea typeface="Poppins"/>
                <a:cs typeface="Poppins"/>
                <a:sym typeface="Poppins"/>
              </a:rPr>
              <a:t>Disallow “eval” and function constructor.</a:t>
            </a:r>
            <a:endParaRPr>
              <a:latin typeface="Poppins"/>
              <a:ea typeface="Poppins"/>
              <a:cs typeface="Poppins"/>
              <a:sym typeface="Poppins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Font typeface="Poppins"/>
              <a:buChar char="○"/>
            </a:pPr>
            <a:r>
              <a:rPr lang="pl">
                <a:latin typeface="Poppins"/>
                <a:ea typeface="Poppins"/>
                <a:cs typeface="Poppins"/>
                <a:sym typeface="Poppins"/>
              </a:rPr>
              <a:t>Allow loading images only from imgur.com and img.bb.</a:t>
            </a:r>
            <a:endParaRPr>
              <a:latin typeface="Poppins"/>
              <a:ea typeface="Poppins"/>
              <a:cs typeface="Poppins"/>
              <a:sym typeface="Poppins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Font typeface="Poppins"/>
              <a:buChar char="○"/>
            </a:pPr>
            <a:r>
              <a:rPr lang="pl">
                <a:latin typeface="Poppins"/>
                <a:ea typeface="Poppins"/>
                <a:cs typeface="Poppins"/>
                <a:sym typeface="Poppins"/>
              </a:rPr>
              <a:t>Allow loading media only on HTTPS.</a:t>
            </a:r>
            <a:endParaRPr>
              <a:latin typeface="Poppins"/>
              <a:ea typeface="Poppins"/>
              <a:cs typeface="Poppins"/>
              <a:sym typeface="Poppins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Font typeface="Poppins"/>
              <a:buChar char="○"/>
            </a:pPr>
            <a:r>
              <a:rPr lang="pl">
                <a:latin typeface="Poppins"/>
                <a:ea typeface="Poppins"/>
                <a:cs typeface="Poppins"/>
                <a:sym typeface="Poppins"/>
              </a:rPr>
              <a:t>Disallow running the page from an </a:t>
            </a:r>
            <a:r>
              <a:rPr lang="pl">
                <a:latin typeface="Courier New"/>
                <a:ea typeface="Courier New"/>
                <a:cs typeface="Courier New"/>
                <a:sym typeface="Courier New"/>
              </a:rPr>
              <a:t>iframe</a:t>
            </a:r>
            <a:r>
              <a:rPr lang="pl">
                <a:latin typeface="Poppins"/>
                <a:ea typeface="Poppins"/>
                <a:cs typeface="Poppins"/>
                <a:sym typeface="Poppins"/>
              </a:rPr>
              <a:t>.</a:t>
            </a: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80" name="Google Shape;80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14050" y="2502600"/>
            <a:ext cx="2666825" cy="2516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>
                <a:latin typeface="Poppins"/>
                <a:ea typeface="Poppins"/>
                <a:cs typeface="Poppins"/>
                <a:sym typeface="Poppins"/>
              </a:rPr>
              <a:t>How it protects the user?</a:t>
            </a: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6" name="Google Shape;86;p18"/>
          <p:cNvSpPr txBox="1"/>
          <p:nvPr>
            <p:ph idx="1" type="body"/>
          </p:nvPr>
        </p:nvSpPr>
        <p:spPr>
          <a:xfrm>
            <a:off x="311700" y="1152475"/>
            <a:ext cx="7132800" cy="216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Poppins"/>
              <a:buChar char="●"/>
            </a:pPr>
            <a:r>
              <a:rPr lang="pl">
                <a:latin typeface="Poppins"/>
                <a:ea typeface="Poppins"/>
                <a:cs typeface="Poppins"/>
                <a:sym typeface="Poppins"/>
              </a:rPr>
              <a:t>A malicious party may use native browser communication mechanisms to launch an attack.</a:t>
            </a:r>
            <a:endParaRPr>
              <a:latin typeface="Poppins"/>
              <a:ea typeface="Poppins"/>
              <a:cs typeface="Poppins"/>
              <a:sym typeface="Poppins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Poppins"/>
              <a:buChar char="●"/>
            </a:pPr>
            <a:r>
              <a:rPr lang="pl">
                <a:latin typeface="Poppins"/>
                <a:ea typeface="Poppins"/>
                <a:cs typeface="Poppins"/>
                <a:sym typeface="Poppins"/>
              </a:rPr>
              <a:t>As a website creator, we know how the website will be used - so we can restrict the browser behaviour to only our-defined ones.</a:t>
            </a:r>
            <a:endParaRPr>
              <a:latin typeface="Poppins"/>
              <a:ea typeface="Poppins"/>
              <a:cs typeface="Poppins"/>
              <a:sym typeface="Poppins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Poppins"/>
              <a:buChar char="●"/>
            </a:pPr>
            <a:r>
              <a:rPr lang="pl">
                <a:latin typeface="Poppins"/>
                <a:ea typeface="Poppins"/>
                <a:cs typeface="Poppins"/>
                <a:sym typeface="Poppins"/>
              </a:rPr>
              <a:t>By default - all is blocked.</a:t>
            </a: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>
                <a:latin typeface="Poppins"/>
                <a:ea typeface="Poppins"/>
                <a:cs typeface="Poppins"/>
                <a:sym typeface="Poppins"/>
              </a:rPr>
              <a:t>Example CSP </a:t>
            </a: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2" name="Google Shape;92;p19"/>
          <p:cNvSpPr txBox="1"/>
          <p:nvPr>
            <p:ph idx="1" type="body"/>
          </p:nvPr>
        </p:nvSpPr>
        <p:spPr>
          <a:xfrm>
            <a:off x="311700" y="1152475"/>
            <a:ext cx="7132800" cy="108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 sz="1600">
                <a:solidFill>
                  <a:srgbClr val="1B1B1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default-src 'self'; img-src imgur.com; media-src example.org example.net; script-src userscripts.example.com</a:t>
            </a:r>
            <a:endParaRPr sz="1600">
              <a:solidFill>
                <a:srgbClr val="1B1B1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rgbClr val="1B1B1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rgbClr val="1B1B1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16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93" name="Google Shape;93;p19"/>
          <p:cNvSpPr txBox="1"/>
          <p:nvPr>
            <p:ph idx="1" type="body"/>
          </p:nvPr>
        </p:nvSpPr>
        <p:spPr>
          <a:xfrm>
            <a:off x="311700" y="2371125"/>
            <a:ext cx="7132800" cy="216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Poppins"/>
              <a:buChar char="●"/>
            </a:pPr>
            <a:r>
              <a:rPr lang="pl" sz="1600">
                <a:latin typeface="Poppins"/>
                <a:ea typeface="Poppins"/>
                <a:cs typeface="Poppins"/>
                <a:sym typeface="Poppins"/>
              </a:rPr>
              <a:t>Directives separated by</a:t>
            </a:r>
            <a:r>
              <a:rPr lang="pl" sz="1600">
                <a:latin typeface="Poppins"/>
                <a:ea typeface="Poppins"/>
                <a:cs typeface="Poppins"/>
                <a:sym typeface="Poppins"/>
              </a:rPr>
              <a:t> semicolons.</a:t>
            </a:r>
            <a:endParaRPr sz="1600">
              <a:latin typeface="Poppins"/>
              <a:ea typeface="Poppins"/>
              <a:cs typeface="Poppins"/>
              <a:sym typeface="Poppins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Poppins"/>
              <a:buChar char="●"/>
            </a:pPr>
            <a:r>
              <a:rPr lang="pl" sz="1600">
                <a:latin typeface="Poppins"/>
                <a:ea typeface="Poppins"/>
                <a:cs typeface="Poppins"/>
                <a:sym typeface="Poppins"/>
              </a:rPr>
              <a:t>Special values:</a:t>
            </a:r>
            <a:endParaRPr sz="1600">
              <a:latin typeface="Poppins"/>
              <a:ea typeface="Poppins"/>
              <a:cs typeface="Poppins"/>
              <a:sym typeface="Poppins"/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Font typeface="Poppins"/>
              <a:buChar char="○"/>
            </a:pPr>
            <a:r>
              <a:rPr lang="pl" sz="1600">
                <a:latin typeface="Courier New"/>
                <a:ea typeface="Courier New"/>
                <a:cs typeface="Courier New"/>
                <a:sym typeface="Courier New"/>
              </a:rPr>
              <a:t>`self` </a:t>
            </a:r>
            <a:r>
              <a:rPr lang="pl" sz="1600">
                <a:latin typeface="Poppins"/>
                <a:ea typeface="Poppins"/>
                <a:cs typeface="Poppins"/>
                <a:sym typeface="Poppins"/>
              </a:rPr>
              <a:t>- an alias to the same domain.</a:t>
            </a:r>
            <a:endParaRPr sz="1600">
              <a:latin typeface="Poppins"/>
              <a:ea typeface="Poppins"/>
              <a:cs typeface="Poppins"/>
              <a:sym typeface="Poppins"/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Font typeface="Poppins"/>
              <a:buChar char="○"/>
            </a:pPr>
            <a:r>
              <a:rPr lang="pl" sz="1600">
                <a:latin typeface="Courier New"/>
                <a:ea typeface="Courier New"/>
                <a:cs typeface="Courier New"/>
                <a:sym typeface="Courier New"/>
              </a:rPr>
              <a:t>`none`</a:t>
            </a:r>
            <a:r>
              <a:rPr lang="pl" sz="1600">
                <a:latin typeface="Poppins"/>
                <a:ea typeface="Poppins"/>
                <a:cs typeface="Poppins"/>
                <a:sym typeface="Poppins"/>
              </a:rPr>
              <a:t> - no resource will be loaded.</a:t>
            </a:r>
            <a:endParaRPr sz="1600">
              <a:latin typeface="Poppins"/>
              <a:ea typeface="Poppins"/>
              <a:cs typeface="Poppins"/>
              <a:sym typeface="Poppins"/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Font typeface="Poppins"/>
              <a:buChar char="○"/>
            </a:pPr>
            <a:r>
              <a:rPr lang="pl" sz="1600">
                <a:latin typeface="Courier New"/>
                <a:ea typeface="Courier New"/>
                <a:cs typeface="Courier New"/>
                <a:sym typeface="Courier New"/>
              </a:rPr>
              <a:t>*</a:t>
            </a:r>
            <a:r>
              <a:rPr lang="pl" sz="1600">
                <a:latin typeface="Poppins"/>
                <a:ea typeface="Poppins"/>
                <a:cs typeface="Poppins"/>
                <a:sym typeface="Poppins"/>
              </a:rPr>
              <a:t> - allow all.</a:t>
            </a:r>
            <a:endParaRPr sz="1600"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>
                <a:latin typeface="Poppins"/>
                <a:ea typeface="Poppins"/>
                <a:cs typeface="Poppins"/>
                <a:sym typeface="Poppins"/>
              </a:rPr>
              <a:t>On </a:t>
            </a:r>
            <a:r>
              <a:rPr lang="pl">
                <a:latin typeface="Courier New"/>
                <a:ea typeface="Courier New"/>
                <a:cs typeface="Courier New"/>
                <a:sym typeface="Courier New"/>
              </a:rPr>
              <a:t>script-src</a:t>
            </a:r>
            <a:r>
              <a:rPr lang="pl">
                <a:latin typeface="Poppins"/>
                <a:ea typeface="Poppins"/>
                <a:cs typeface="Poppins"/>
                <a:sym typeface="Poppins"/>
              </a:rPr>
              <a:t> directive</a:t>
            </a:r>
            <a:r>
              <a:rPr lang="pl">
                <a:latin typeface="Poppins"/>
                <a:ea typeface="Poppins"/>
                <a:cs typeface="Poppins"/>
                <a:sym typeface="Poppins"/>
              </a:rPr>
              <a:t> </a:t>
            </a: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9" name="Google Shape;99;p20"/>
          <p:cNvSpPr txBox="1"/>
          <p:nvPr>
            <p:ph idx="1" type="body"/>
          </p:nvPr>
        </p:nvSpPr>
        <p:spPr>
          <a:xfrm>
            <a:off x="311700" y="1258075"/>
            <a:ext cx="7132800" cy="308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3B68FC"/>
              </a:buClr>
              <a:buSzPts val="1600"/>
              <a:buFont typeface="Poppins"/>
              <a:buChar char="●"/>
            </a:pPr>
            <a:r>
              <a:rPr lang="pl" sz="1600">
                <a:solidFill>
                  <a:srgbClr val="3B3B3C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`unsafe-inline`</a:t>
            </a:r>
            <a:r>
              <a:rPr lang="pl" sz="1600">
                <a:solidFill>
                  <a:srgbClr val="3B3B3C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 - allows for JS inside </a:t>
            </a:r>
            <a:r>
              <a:rPr lang="pl" sz="1600">
                <a:solidFill>
                  <a:srgbClr val="3B3B3C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script</a:t>
            </a:r>
            <a:r>
              <a:rPr lang="pl" sz="1600">
                <a:solidFill>
                  <a:srgbClr val="3B3B3C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 element and inline event handlers (</a:t>
            </a:r>
            <a:r>
              <a:rPr lang="pl" sz="1600">
                <a:solidFill>
                  <a:srgbClr val="3B3B3C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onchange=”function()”</a:t>
            </a:r>
            <a:r>
              <a:rPr lang="pl" sz="1600">
                <a:solidFill>
                  <a:srgbClr val="3B3B3C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).</a:t>
            </a:r>
            <a:endParaRPr sz="1600">
              <a:solidFill>
                <a:srgbClr val="3B3B3C"/>
              </a:solidFill>
              <a:highlight>
                <a:srgbClr val="FFFFFF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3B68FC"/>
              </a:buClr>
              <a:buSzPts val="1600"/>
              <a:buFont typeface="Poppins"/>
              <a:buChar char="●"/>
            </a:pPr>
            <a:r>
              <a:rPr lang="pl" sz="1600">
                <a:solidFill>
                  <a:srgbClr val="3B3B3C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`unsafe-eval`</a:t>
            </a:r>
            <a:r>
              <a:rPr lang="pl" sz="1600">
                <a:solidFill>
                  <a:srgbClr val="3B3B3C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 - allows for </a:t>
            </a:r>
            <a:r>
              <a:rPr lang="pl" sz="1600">
                <a:solidFill>
                  <a:srgbClr val="3B3B3C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`eval`</a:t>
            </a:r>
            <a:r>
              <a:rPr lang="pl" sz="1600">
                <a:solidFill>
                  <a:srgbClr val="3B3B3C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, </a:t>
            </a:r>
            <a:r>
              <a:rPr lang="pl" sz="1600">
                <a:solidFill>
                  <a:srgbClr val="3B3B3C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Function</a:t>
            </a:r>
            <a:r>
              <a:rPr lang="pl" sz="1600">
                <a:solidFill>
                  <a:srgbClr val="3B3B3C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 constructor etc.</a:t>
            </a:r>
            <a:endParaRPr sz="1600">
              <a:solidFill>
                <a:srgbClr val="3B3B3C"/>
              </a:solidFill>
              <a:highlight>
                <a:srgbClr val="FFFFFF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3B68FC"/>
              </a:buClr>
              <a:buSzPts val="1600"/>
              <a:buFont typeface="Poppins"/>
              <a:buChar char="●"/>
            </a:pPr>
            <a:r>
              <a:rPr lang="pl" sz="1600">
                <a:solidFill>
                  <a:srgbClr val="3B3B3C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`nonce-&lt;value&gt;`</a:t>
            </a:r>
            <a:r>
              <a:rPr lang="pl" sz="1600">
                <a:solidFill>
                  <a:srgbClr val="3B3B3C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 - allows for only executing the </a:t>
            </a:r>
            <a:r>
              <a:rPr lang="pl" sz="1600">
                <a:solidFill>
                  <a:srgbClr val="3B3B3C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script</a:t>
            </a:r>
            <a:r>
              <a:rPr lang="pl" sz="1600">
                <a:solidFill>
                  <a:srgbClr val="3B3B3C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 that has </a:t>
            </a:r>
            <a:r>
              <a:rPr lang="pl" sz="1600">
                <a:solidFill>
                  <a:srgbClr val="3B3B3C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nonce=&lt;value&gt;</a:t>
            </a:r>
            <a:r>
              <a:rPr lang="pl" sz="1600">
                <a:solidFill>
                  <a:srgbClr val="3B3B3C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 attribute. (Injected by server, per each request.)</a:t>
            </a:r>
            <a:endParaRPr sz="1600">
              <a:solidFill>
                <a:srgbClr val="3B3B3C"/>
              </a:solidFill>
              <a:highlight>
                <a:srgbClr val="FFFFFF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3B68FC"/>
              </a:buClr>
              <a:buSzPts val="1600"/>
              <a:buFont typeface="Poppins"/>
              <a:buChar char="●"/>
            </a:pPr>
            <a:r>
              <a:rPr lang="pl" sz="1600">
                <a:solidFill>
                  <a:srgbClr val="3B3B3C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`&lt;hash&gt;`</a:t>
            </a:r>
            <a:r>
              <a:rPr lang="pl" sz="1600">
                <a:solidFill>
                  <a:srgbClr val="3B3B3C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 - allows execution of script that hashes to a given value.</a:t>
            </a:r>
            <a:endParaRPr sz="1600">
              <a:solidFill>
                <a:srgbClr val="3B3B3C"/>
              </a:solidFill>
              <a:highlight>
                <a:srgbClr val="FFFFFF"/>
              </a:highlight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>
                <a:latin typeface="Poppins"/>
                <a:ea typeface="Poppins"/>
                <a:cs typeface="Poppins"/>
                <a:sym typeface="Poppins"/>
              </a:rPr>
              <a:t>Ways of adding CSP to our website</a:t>
            </a: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05" name="Google Shape;105;p21"/>
          <p:cNvSpPr txBox="1"/>
          <p:nvPr>
            <p:ph idx="1" type="body"/>
          </p:nvPr>
        </p:nvSpPr>
        <p:spPr>
          <a:xfrm>
            <a:off x="311700" y="1152475"/>
            <a:ext cx="7132800" cy="300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Poppins"/>
              <a:buChar char="●"/>
            </a:pPr>
            <a:r>
              <a:rPr lang="pl" sz="1600">
                <a:latin typeface="Poppins"/>
                <a:ea typeface="Poppins"/>
                <a:cs typeface="Poppins"/>
                <a:sym typeface="Poppins"/>
              </a:rPr>
              <a:t>As a response header:</a:t>
            </a:r>
            <a:endParaRPr sz="1600">
              <a:latin typeface="Poppins"/>
              <a:ea typeface="Poppins"/>
              <a:cs typeface="Poppins"/>
              <a:sym typeface="Poppins"/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Font typeface="Courier New"/>
              <a:buChar char="○"/>
            </a:pPr>
            <a:r>
              <a:rPr lang="pl" sz="1100">
                <a:latin typeface="Courier New"/>
                <a:ea typeface="Courier New"/>
                <a:cs typeface="Courier New"/>
                <a:sym typeface="Courier New"/>
              </a:rPr>
              <a:t>Content-Security-Policy: default-src 'self'; img-src cdn.example.com;</a:t>
            </a:r>
            <a:endParaRPr sz="1100">
              <a:latin typeface="Courier New"/>
              <a:ea typeface="Courier New"/>
              <a:cs typeface="Courier New"/>
              <a:sym typeface="Courier New"/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Font typeface="Poppins"/>
              <a:buChar char="○"/>
            </a:pPr>
            <a:r>
              <a:rPr lang="pl" sz="1600">
                <a:latin typeface="Poppins"/>
                <a:ea typeface="Poppins"/>
                <a:cs typeface="Poppins"/>
                <a:sym typeface="Poppins"/>
              </a:rPr>
              <a:t>All features are supported here.</a:t>
            </a:r>
            <a:endParaRPr sz="1600">
              <a:latin typeface="Poppins"/>
              <a:ea typeface="Poppins"/>
              <a:cs typeface="Poppins"/>
              <a:sym typeface="Poppins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Poppins"/>
              <a:buChar char="●"/>
            </a:pPr>
            <a:r>
              <a:rPr lang="pl" sz="1600">
                <a:latin typeface="Poppins"/>
                <a:ea typeface="Poppins"/>
                <a:cs typeface="Poppins"/>
                <a:sym typeface="Poppins"/>
              </a:rPr>
              <a:t>In HTML:</a:t>
            </a:r>
            <a:endParaRPr sz="1600">
              <a:latin typeface="Poppins"/>
              <a:ea typeface="Poppins"/>
              <a:cs typeface="Poppins"/>
              <a:sym typeface="Poppins"/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Font typeface="Courier New"/>
              <a:buChar char="○"/>
            </a:pPr>
            <a:r>
              <a:rPr lang="pl" sz="1100">
                <a:latin typeface="Courier New"/>
                <a:ea typeface="Courier New"/>
                <a:cs typeface="Courier New"/>
                <a:sym typeface="Courier New"/>
              </a:rPr>
              <a:t>&lt;meta http-equiv="Content-Security-Policy" content="img-src imgur.com"&gt;</a:t>
            </a:r>
            <a:endParaRPr sz="1100">
              <a:latin typeface="Courier New"/>
              <a:ea typeface="Courier New"/>
              <a:cs typeface="Courier New"/>
              <a:sym typeface="Courier New"/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Font typeface="Poppins"/>
              <a:buChar char="○"/>
            </a:pPr>
            <a:r>
              <a:rPr lang="pl" sz="1600">
                <a:latin typeface="Poppins"/>
                <a:ea typeface="Poppins"/>
                <a:cs typeface="Poppins"/>
                <a:sym typeface="Poppins"/>
              </a:rPr>
              <a:t>Useful when we cannot control the headers.</a:t>
            </a:r>
            <a:endParaRPr sz="1600">
              <a:latin typeface="Poppins"/>
              <a:ea typeface="Poppins"/>
              <a:cs typeface="Poppins"/>
              <a:sym typeface="Poppins"/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Font typeface="Poppins"/>
              <a:buChar char="○"/>
            </a:pPr>
            <a:r>
              <a:rPr lang="pl" sz="1600">
                <a:latin typeface="Poppins"/>
                <a:ea typeface="Poppins"/>
                <a:cs typeface="Poppins"/>
                <a:sym typeface="Poppins"/>
              </a:rPr>
              <a:t>Almost</a:t>
            </a:r>
            <a:r>
              <a:rPr lang="pl" sz="1600">
                <a:latin typeface="Poppins"/>
                <a:ea typeface="Poppins"/>
                <a:cs typeface="Poppins"/>
                <a:sym typeface="Poppins"/>
              </a:rPr>
              <a:t> everything is supported this way.</a:t>
            </a:r>
            <a:endParaRPr sz="1600"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>
                <a:latin typeface="Poppins"/>
                <a:ea typeface="Poppins"/>
                <a:cs typeface="Poppins"/>
                <a:sym typeface="Poppins"/>
              </a:rPr>
              <a:t>Implementing the usage of CSP</a:t>
            </a: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1152475"/>
            <a:ext cx="7132800" cy="216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Poppins"/>
              <a:buChar char="●"/>
            </a:pPr>
            <a:r>
              <a:rPr lang="pl">
                <a:latin typeface="Poppins"/>
                <a:ea typeface="Poppins"/>
                <a:cs typeface="Poppins"/>
                <a:sym typeface="Poppins"/>
              </a:rPr>
              <a:t>Enabling</a:t>
            </a:r>
            <a:r>
              <a:rPr lang="pl">
                <a:latin typeface="Poppins"/>
                <a:ea typeface="Poppins"/>
                <a:cs typeface="Poppins"/>
                <a:sym typeface="Poppins"/>
              </a:rPr>
              <a:t> the CSP on a ready page will most surely result in broken website - we cannot </a:t>
            </a:r>
            <a:r>
              <a:rPr lang="pl">
                <a:latin typeface="Poppins"/>
                <a:ea typeface="Poppins"/>
                <a:cs typeface="Poppins"/>
                <a:sym typeface="Poppins"/>
              </a:rPr>
              <a:t>foresee</a:t>
            </a:r>
            <a:r>
              <a:rPr lang="pl">
                <a:latin typeface="Poppins"/>
                <a:ea typeface="Poppins"/>
                <a:cs typeface="Poppins"/>
                <a:sym typeface="Poppins"/>
              </a:rPr>
              <a:t> everything, so CSP may block stuff that was expected to work.</a:t>
            </a:r>
            <a:endParaRPr>
              <a:latin typeface="Poppins"/>
              <a:ea typeface="Poppins"/>
              <a:cs typeface="Poppins"/>
              <a:sym typeface="Poppins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Courier New"/>
              <a:buChar char="●"/>
            </a:pPr>
            <a:r>
              <a:rPr lang="pl">
                <a:latin typeface="Courier New"/>
                <a:ea typeface="Courier New"/>
                <a:cs typeface="Courier New"/>
                <a:sym typeface="Courier New"/>
              </a:rPr>
              <a:t>Content-Security-Policy-Report-Only</a:t>
            </a:r>
            <a:r>
              <a:rPr lang="pl">
                <a:latin typeface="Poppins"/>
                <a:ea typeface="Poppins"/>
                <a:cs typeface="Poppins"/>
                <a:sym typeface="Poppins"/>
              </a:rPr>
              <a:t> - doesn’t block, but logs the violation and (optionally) sends the violation report to given endpoint.</a:t>
            </a: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12" name="Google Shape;112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4304750"/>
            <a:ext cx="8839201" cy="572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>
                <a:latin typeface="Poppins"/>
                <a:ea typeface="Poppins"/>
                <a:cs typeface="Poppins"/>
                <a:sym typeface="Poppins"/>
              </a:rPr>
              <a:t>Do we need CSP at Omni?</a:t>
            </a: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18" name="Google Shape;118;p23"/>
          <p:cNvSpPr txBox="1"/>
          <p:nvPr>
            <p:ph idx="1" type="body"/>
          </p:nvPr>
        </p:nvSpPr>
        <p:spPr>
          <a:xfrm>
            <a:off x="311700" y="1152475"/>
            <a:ext cx="7132800" cy="259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Courier New"/>
              <a:buChar char="●"/>
            </a:pPr>
            <a:r>
              <a:rPr lang="pl">
                <a:latin typeface="Poppins"/>
                <a:ea typeface="Poppins"/>
                <a:cs typeface="Poppins"/>
                <a:sym typeface="Poppins"/>
              </a:rPr>
              <a:t>Note that presented attack relies on user input. If there’s no such mechanism, there may be no great value in implementing CSP.</a:t>
            </a:r>
            <a:endParaRPr>
              <a:latin typeface="Poppins"/>
              <a:ea typeface="Poppins"/>
              <a:cs typeface="Poppins"/>
              <a:sym typeface="Poppins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Poppins"/>
              <a:buChar char="●"/>
            </a:pPr>
            <a:r>
              <a:rPr lang="pl">
                <a:latin typeface="Poppins"/>
                <a:ea typeface="Poppins"/>
                <a:cs typeface="Poppins"/>
                <a:sym typeface="Poppins"/>
              </a:rPr>
              <a:t>When the page content is curated we already have an additional protection.</a:t>
            </a:r>
            <a:endParaRPr>
              <a:latin typeface="Poppins"/>
              <a:ea typeface="Poppins"/>
              <a:cs typeface="Poppins"/>
              <a:sym typeface="Poppins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Poppins"/>
              <a:buChar char="●"/>
            </a:pPr>
            <a:r>
              <a:rPr lang="pl">
                <a:latin typeface="Poppins"/>
                <a:ea typeface="Poppins"/>
                <a:cs typeface="Poppins"/>
                <a:sym typeface="Poppins"/>
              </a:rPr>
              <a:t>Remember that CSP is only one layer of possible actions - it shouldn’t be used by itself.</a:t>
            </a: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4"/>
          <p:cNvSpPr txBox="1"/>
          <p:nvPr>
            <p:ph type="ctrTitle"/>
          </p:nvPr>
        </p:nvSpPr>
        <p:spPr>
          <a:xfrm>
            <a:off x="215150" y="1209048"/>
            <a:ext cx="6727500" cy="1451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>
                <a:latin typeface="Poppins"/>
                <a:ea typeface="Poppins"/>
                <a:cs typeface="Poppins"/>
                <a:sym typeface="Poppins"/>
              </a:rPr>
              <a:t>And we’re done</a:t>
            </a: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24" name="Google Shape;124;p24"/>
          <p:cNvSpPr txBox="1"/>
          <p:nvPr>
            <p:ph idx="1" type="subTitle"/>
          </p:nvPr>
        </p:nvSpPr>
        <p:spPr>
          <a:xfrm>
            <a:off x="215138" y="2660119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>
                <a:latin typeface="Poppins"/>
                <a:ea typeface="Poppins"/>
                <a:cs typeface="Poppins"/>
                <a:sym typeface="Poppins"/>
              </a:rPr>
              <a:t>As always, thank you! Any questions?</a:t>
            </a:r>
            <a:endParaRPr/>
          </a:p>
        </p:txBody>
      </p:sp>
      <p:pic>
        <p:nvPicPr>
          <p:cNvPr id="125" name="Google Shape;125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65225" y="163325"/>
            <a:ext cx="1896550" cy="1896550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24"/>
          <p:cNvSpPr txBox="1"/>
          <p:nvPr>
            <p:ph idx="1" type="subTitle"/>
          </p:nvPr>
        </p:nvSpPr>
        <p:spPr>
          <a:xfrm>
            <a:off x="3671650" y="266650"/>
            <a:ext cx="1821300" cy="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>
                <a:latin typeface="Poppins"/>
                <a:ea typeface="Poppins"/>
                <a:cs typeface="Poppins"/>
                <a:sym typeface="Poppins"/>
              </a:rPr>
              <a:t>Without CSP:</a:t>
            </a:r>
            <a:endParaRPr/>
          </a:p>
        </p:txBody>
      </p:sp>
      <p:pic>
        <p:nvPicPr>
          <p:cNvPr id="127" name="Google Shape;127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49300" y="2390625"/>
            <a:ext cx="3253074" cy="2439802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24"/>
          <p:cNvSpPr txBox="1"/>
          <p:nvPr>
            <p:ph idx="1" type="subTitle"/>
          </p:nvPr>
        </p:nvSpPr>
        <p:spPr>
          <a:xfrm>
            <a:off x="6037613" y="1909325"/>
            <a:ext cx="1821300" cy="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>
                <a:latin typeface="Poppins"/>
                <a:ea typeface="Poppins"/>
                <a:cs typeface="Poppins"/>
                <a:sym typeface="Poppins"/>
              </a:rPr>
              <a:t>With</a:t>
            </a:r>
            <a:r>
              <a:rPr lang="pl">
                <a:latin typeface="Poppins"/>
                <a:ea typeface="Poppins"/>
                <a:cs typeface="Poppins"/>
                <a:sym typeface="Poppins"/>
              </a:rPr>
              <a:t> CSP: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